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325" r:id="rId3"/>
    <p:sldId id="309" r:id="rId4"/>
    <p:sldId id="323" r:id="rId5"/>
    <p:sldId id="320" r:id="rId6"/>
    <p:sldId id="321" r:id="rId7"/>
    <p:sldId id="322" r:id="rId8"/>
    <p:sldId id="282" r:id="rId9"/>
    <p:sldId id="324" r:id="rId10"/>
    <p:sldId id="259" r:id="rId11"/>
    <p:sldId id="287" r:id="rId12"/>
    <p:sldId id="311" r:id="rId13"/>
    <p:sldId id="312" r:id="rId14"/>
    <p:sldId id="288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277" r:id="rId23"/>
    <p:sldId id="289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86"/>
  </p:normalViewPr>
  <p:slideViewPr>
    <p:cSldViewPr snapToGrid="0">
      <p:cViewPr varScale="1">
        <p:scale>
          <a:sx n="70" d="100"/>
          <a:sy n="70" d="100"/>
        </p:scale>
        <p:origin x="3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526A91-E8F5-DF57-C51F-B39D888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6877D04-AF6F-95DF-2772-3F2AEFE42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F3B2725-B325-8878-AD6D-D25648435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9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F3859FA-6110-F732-3E36-2A7BAE91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92037DD-A462-717C-4E53-9FA6C8FC5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09E7859-DA39-1558-CD0C-C35F85660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638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A5A503C-5649-E8FC-25C5-8659A9DC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D63BA5B-8E0B-A49D-0883-6430CAF5C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BD0863B-D689-53B6-935F-BA77B8E9F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411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25C3355-6E1A-B156-2046-312D0580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0813741-F702-AB4D-2B6B-3A1628C33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2C0F5B5-D3E6-2760-5F85-DFEC4F1DF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021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C1F0F4F-475B-EF9D-AF39-D350ACEF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EEAD597-204E-249D-02E9-66F944172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3435BBB-0E02-A664-A443-612565805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44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10617FB-6601-5361-0816-4A2D052B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06B3ABBF-8602-8ED6-0777-5B8B274974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683AE65-58E4-D44E-FE07-752EE2B38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008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0955DA0-1FAD-381E-F30C-40D10EB7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44AC051C-BAE8-0F53-2A32-F064DAEBB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15885A7-F524-F44C-F035-A5A94CC1D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212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112FB6-59D5-8404-C2FB-05CB96D3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55D82C9-D204-07CC-27EA-4D2B35EAC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5A86275-F29F-F466-D0E1-008927C6C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5954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4DF89A4-5C8A-0CCF-E92C-5CD3CBBA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58BEBDD-EB63-A47D-37A9-7BCFB0851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AA32DA3-7ADE-4FB1-379F-9CEE78FC7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2384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6444D72-FAB8-CA08-59FA-4656DE94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9F850F9C-58F4-00FB-91F1-02C1AA3EC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1066798-E265-5ACB-DCD9-CF93CF119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576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DF20DAC-18B7-2D3C-167C-96E219413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04A51EDC-8C38-C4D1-C714-A2E166EEB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8F467BD-260E-5242-295F-02AA8592E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155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AD3EB18-2E58-59FF-1AB1-DF412D05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326C76DC-FBA9-8DA2-CF97-EE4442A6F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49BC20B-E927-5027-E143-9D6191C1A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9869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3EE91D-450F-4DC8-20E8-D452BC38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55AC1C8-B0C9-F624-19BD-ACE791C27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0EDDE2C-E1AE-005E-C562-12B9424C1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929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A7E115-BA8C-F709-4666-21149216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023C5389-2279-5279-CC13-C2F578F25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B1D03FD-606F-0114-8CA2-50ED48E13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1837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4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47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79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80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6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562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A logo with blue and red letters&#10;&#10;AI-generated content may be incorrect.">
            <a:extLst>
              <a:ext uri="{FF2B5EF4-FFF2-40B4-BE49-F238E27FC236}">
                <a16:creationId xmlns:a16="http://schemas.microsoft.com/office/drawing/2014/main" id="{C601B37F-C7C2-FC6D-9243-A55C180769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58298" y="6452236"/>
            <a:ext cx="105251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aram-025/NexusCloud-Pest-Risk-Agent.gi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gritech.tnau.ac.in/crop_protection/crop_prot_ipm.html" TargetMode="External"/><Relationship Id="rId3" Type="http://schemas.openxmlformats.org/officeDocument/2006/relationships/hyperlink" Target="https://www.ibm.com/granite" TargetMode="External"/><Relationship Id="rId7" Type="http://schemas.openxmlformats.org/officeDocument/2006/relationships/hyperlink" Target="https://cloud.ibm.com/apidocs/machine-learn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bm.com/products/watsonx-ai" TargetMode="External"/><Relationship Id="rId11" Type="http://schemas.openxmlformats.org/officeDocument/2006/relationships/image" Target="../media/image25.jpeg"/><Relationship Id="rId5" Type="http://schemas.openxmlformats.org/officeDocument/2006/relationships/hyperlink" Target="https://www.langflow.org/" TargetMode="External"/><Relationship Id="rId10" Type="http://schemas.openxmlformats.org/officeDocument/2006/relationships/hyperlink" Target="https://ppqs.gov.in/hi/ipm-packages" TargetMode="External"/><Relationship Id="rId4" Type="http://schemas.openxmlformats.org/officeDocument/2006/relationships/hyperlink" Target="https://docs.langflow.org/" TargetMode="External"/><Relationship Id="rId9" Type="http://schemas.openxmlformats.org/officeDocument/2006/relationships/hyperlink" Target="https://www.fao.org/pest-and-pesticide-management/ipm/e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F74B-75BC-7A3C-E1C2-487D51B6218A}"/>
              </a:ext>
            </a:extLst>
          </p:cNvPr>
          <p:cNvSpPr txBox="1">
            <a:spLocks/>
          </p:cNvSpPr>
          <p:nvPr/>
        </p:nvSpPr>
        <p:spPr>
          <a:xfrm>
            <a:off x="766482" y="1603559"/>
            <a:ext cx="10515600" cy="285273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IBM SkillsBuild </a:t>
            </a:r>
            <a:b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Impact Showcase Event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AF44B-E72B-F59C-73D7-E4A900D39C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965" b="-5116"/>
          <a:stretch/>
        </p:blipFill>
        <p:spPr>
          <a:xfrm>
            <a:off x="335797" y="6276418"/>
            <a:ext cx="1156119" cy="3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1862-48D1-E6DC-49AC-B775B098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7D33-F233-AF0B-9CE2-59C43EE17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21" y="906736"/>
            <a:ext cx="11053459" cy="480729"/>
          </a:xfrm>
        </p:spPr>
        <p:txBody>
          <a:bodyPr>
            <a:normAutofit fontScale="90000"/>
          </a:bodyPr>
          <a:lstStyle/>
          <a:p>
            <a:r>
              <a:rPr lang="en-IN" dirty="0"/>
              <a:t>Nexus cloud : </a:t>
            </a:r>
            <a:r>
              <a:rPr lang="en-IN" dirty="0" err="1"/>
              <a:t>amruta</a:t>
            </a:r>
            <a:r>
              <a:rPr lang="en-IN" dirty="0"/>
              <a:t> institute of engineering and </a:t>
            </a:r>
            <a:br>
              <a:rPr lang="en-IN" dirty="0"/>
            </a:br>
            <a:r>
              <a:rPr lang="en-IN" dirty="0"/>
              <a:t>				    management sciences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6DCB9-581C-0DC0-2CA9-A91AB43322DF}"/>
              </a:ext>
            </a:extLst>
          </p:cNvPr>
          <p:cNvSpPr txBox="1"/>
          <p:nvPr/>
        </p:nvSpPr>
        <p:spPr>
          <a:xfrm>
            <a:off x="308267" y="2748967"/>
            <a:ext cx="189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Simon Leo Alexander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701AC-0E68-0B9A-4CFB-157B97F348C0}"/>
              </a:ext>
            </a:extLst>
          </p:cNvPr>
          <p:cNvSpPr txBox="1"/>
          <p:nvPr/>
        </p:nvSpPr>
        <p:spPr>
          <a:xfrm>
            <a:off x="308267" y="4463484"/>
            <a:ext cx="189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Srujana Deshpande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7331E-159A-1160-6D56-B82821E8EDCD}"/>
              </a:ext>
            </a:extLst>
          </p:cNvPr>
          <p:cNvSpPr txBox="1"/>
          <p:nvPr/>
        </p:nvSpPr>
        <p:spPr>
          <a:xfrm>
            <a:off x="308267" y="6054226"/>
            <a:ext cx="189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Shivarama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 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3FBC8D-C339-3293-47B5-BB364C970CDC}"/>
              </a:ext>
            </a:extLst>
          </p:cNvPr>
          <p:cNvSpPr txBox="1"/>
          <p:nvPr/>
        </p:nvSpPr>
        <p:spPr>
          <a:xfrm>
            <a:off x="3048000" y="1399822"/>
            <a:ext cx="851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Tx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TITLE: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Intelligent AI System for Pest and Disease Risk Assessment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E5B69-06FB-F51B-10DE-C1AB6D5E5908}"/>
              </a:ext>
            </a:extLst>
          </p:cNvPr>
          <p:cNvSpPr txBox="1"/>
          <p:nvPr/>
        </p:nvSpPr>
        <p:spPr>
          <a:xfrm>
            <a:off x="2325511" y="1878460"/>
            <a:ext cx="9234311" cy="9476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lvl="0">
              <a:buClrTx/>
              <a:defRPr/>
            </a:pPr>
            <a:r>
              <a:rPr lang="en-IN" b="1" dirty="0"/>
              <a:t>Abstract/Introduction:</a:t>
            </a:r>
            <a:r>
              <a:rPr lang="en-IN" dirty="0"/>
              <a:t> </a:t>
            </a:r>
            <a:r>
              <a:rPr lang="en-US" dirty="0"/>
              <a:t>An intelligent AI system is developed to analyze environmental and crop data for early assessment of pest and disease risks in agriculture.</a:t>
            </a:r>
            <a:br>
              <a:rPr lang="en-US" dirty="0"/>
            </a:br>
            <a:r>
              <a:rPr lang="en-IN" b="1" dirty="0"/>
              <a:t>Problem Statement &amp; Solution:</a:t>
            </a:r>
            <a:r>
              <a:rPr lang="en-IN" dirty="0"/>
              <a:t> </a:t>
            </a:r>
            <a:r>
              <a:rPr lang="en-US" dirty="0"/>
              <a:t>To overcome slow and reactive traditional monitoring, the system uses AI-based analysis to predict pest and disease risks in advance and support timely crop protection decisions.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B6CB7-13FE-B1C7-F916-986583D6C784}"/>
              </a:ext>
            </a:extLst>
          </p:cNvPr>
          <p:cNvSpPr txBox="1"/>
          <p:nvPr/>
        </p:nvSpPr>
        <p:spPr>
          <a:xfrm>
            <a:off x="2325511" y="2919264"/>
            <a:ext cx="4722658" cy="37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US" b="1" u="sng" dirty="0"/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Input:</a:t>
            </a:r>
            <a:br>
              <a:rPr lang="en-US" dirty="0"/>
            </a:br>
            <a:r>
              <a:rPr lang="en-US" dirty="0"/>
              <a:t>The system collects crop details and weather information like temperature, humidity, and rainfall from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Analysis:</a:t>
            </a:r>
            <a:br>
              <a:rPr lang="en-US" dirty="0"/>
            </a:br>
            <a:r>
              <a:rPr lang="en-US" dirty="0"/>
              <a:t>An AI agent analyzes the environmental and crop data to understand conditions that may cause pests or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Risk Prediction:</a:t>
            </a:r>
            <a:br>
              <a:rPr lang="en-US" dirty="0"/>
            </a:br>
            <a:r>
              <a:rPr lang="en-US" dirty="0"/>
              <a:t>The AI predicts possible pest and disease risks and categorizes them as low, medium, or high.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Alert &amp; Advice:</a:t>
            </a:r>
            <a:br>
              <a:rPr lang="en-US" dirty="0"/>
            </a:br>
            <a:r>
              <a:rPr lang="en-US" dirty="0"/>
              <a:t>The system provides early warnings and simple preventive suggestions to protect crops.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ECBAB7-E23C-EE0A-9C55-CB777E96EBDB}"/>
              </a:ext>
            </a:extLst>
          </p:cNvPr>
          <p:cNvSpPr txBox="1"/>
          <p:nvPr/>
        </p:nvSpPr>
        <p:spPr>
          <a:xfrm>
            <a:off x="7174523" y="2919264"/>
            <a:ext cx="4448469" cy="3367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US" b="1" u="sng" dirty="0"/>
              <a:t>IBM 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Granite:</a:t>
            </a:r>
            <a:r>
              <a:rPr lang="en-US" dirty="0"/>
              <a:t> AI model used for reasoning and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watsonx.ai:</a:t>
            </a:r>
            <a:r>
              <a:rPr lang="en-US" dirty="0"/>
              <a:t> Platform to run and manage the AI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Cloud:</a:t>
            </a:r>
            <a:r>
              <a:rPr lang="en-US" dirty="0"/>
              <a:t> Used to host and deploy the system</a:t>
            </a:r>
          </a:p>
          <a:p>
            <a:endParaRPr lang="en-US" dirty="0"/>
          </a:p>
          <a:p>
            <a:r>
              <a:rPr lang="en-US" b="1" u="sng" dirty="0"/>
              <a:t>End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&amp; Marginal Farmers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Agricultural Extension Officers (KVKs &amp; NGOs)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Agronomists &amp; Crop Consultants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Farmer Producer Organizations (FPOs)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D1DA6-AFEE-16FE-FBAF-52CF8432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286" y="767307"/>
            <a:ext cx="1501536" cy="632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C34846-3823-357B-9723-AC61D9092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969"/>
          <a:stretch>
            <a:fillRect/>
          </a:stretch>
        </p:blipFill>
        <p:spPr>
          <a:xfrm>
            <a:off x="867632" y="1810192"/>
            <a:ext cx="772160" cy="947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FB5B87-C85B-04BD-B0D8-164ABD14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19" t="5796" r="15145" b="21167"/>
          <a:stretch>
            <a:fillRect/>
          </a:stretch>
        </p:blipFill>
        <p:spPr>
          <a:xfrm>
            <a:off x="867632" y="5002639"/>
            <a:ext cx="772160" cy="10515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74EDAF-B4CE-D9B6-F385-2FF7B6E0E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62" y="3288122"/>
            <a:ext cx="1216966" cy="11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3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0F6A182-A61F-3FFB-E6D1-64BC967A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3DC741-B78E-0E42-7A60-9D27BF6B2968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B5167-6105-A6BC-E977-F4680E890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54" y="987249"/>
            <a:ext cx="2590312" cy="1287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0B45CA-888D-00E4-CCAC-A5B7ED9DE7D0}"/>
              </a:ext>
            </a:extLst>
          </p:cNvPr>
          <p:cNvSpPr txBox="1"/>
          <p:nvPr/>
        </p:nvSpPr>
        <p:spPr>
          <a:xfrm>
            <a:off x="595331" y="2323325"/>
            <a:ext cx="26566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Chat 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6C463-4A01-A0FE-4E3D-2B4A94E2C3E8}"/>
              </a:ext>
            </a:extLst>
          </p:cNvPr>
          <p:cNvSpPr txBox="1"/>
          <p:nvPr/>
        </p:nvSpPr>
        <p:spPr>
          <a:xfrm>
            <a:off x="276549" y="2755654"/>
            <a:ext cx="2590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 err="1"/>
              <a:t>langflow</a:t>
            </a:r>
            <a:r>
              <a:rPr lang="en-US" dirty="0"/>
              <a:t> component used to accept input from the user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238E6E-0A06-40B9-B5B5-4C809A301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792" y="987249"/>
            <a:ext cx="2138867" cy="48288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0039EE-A9BD-0467-BBDC-536D67B66078}"/>
              </a:ext>
            </a:extLst>
          </p:cNvPr>
          <p:cNvSpPr txBox="1"/>
          <p:nvPr/>
        </p:nvSpPr>
        <p:spPr>
          <a:xfrm>
            <a:off x="4002658" y="5880346"/>
            <a:ext cx="17186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- 1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5B275F-174A-DB23-C6D1-BB0B946ADD8D}"/>
              </a:ext>
            </a:extLst>
          </p:cNvPr>
          <p:cNvSpPr txBox="1"/>
          <p:nvPr/>
        </p:nvSpPr>
        <p:spPr>
          <a:xfrm>
            <a:off x="3514078" y="6279236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 for analyzing crop data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7697DC-33BA-8F32-58FA-6D33E61A8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764" y="985605"/>
            <a:ext cx="2154016" cy="48288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E033504-0DA8-BD5C-A640-9268F0A8B8F1}"/>
              </a:ext>
            </a:extLst>
          </p:cNvPr>
          <p:cNvSpPr txBox="1"/>
          <p:nvPr/>
        </p:nvSpPr>
        <p:spPr>
          <a:xfrm>
            <a:off x="6925732" y="5880346"/>
            <a:ext cx="17186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- 2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1B363-7A48-E7E6-C814-C560790DC66F}"/>
              </a:ext>
            </a:extLst>
          </p:cNvPr>
          <p:cNvSpPr txBox="1"/>
          <p:nvPr/>
        </p:nvSpPr>
        <p:spPr>
          <a:xfrm>
            <a:off x="6544422" y="6279236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 for Detection of risk of the crops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4257E4-63EE-C36D-9AE0-AD3F5D45C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0562" y="987249"/>
            <a:ext cx="2054557" cy="48272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A5D020-5553-9BE6-653C-15C315704B90}"/>
              </a:ext>
            </a:extLst>
          </p:cNvPr>
          <p:cNvSpPr txBox="1"/>
          <p:nvPr/>
        </p:nvSpPr>
        <p:spPr>
          <a:xfrm>
            <a:off x="9956076" y="5880346"/>
            <a:ext cx="17186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- 3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79F65A-3BF2-AEB1-2989-15A37983903D}"/>
              </a:ext>
            </a:extLst>
          </p:cNvPr>
          <p:cNvSpPr txBox="1"/>
          <p:nvPr/>
        </p:nvSpPr>
        <p:spPr>
          <a:xfrm>
            <a:off x="9574766" y="6279236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Final Agent which gives output to the user</a:t>
            </a:r>
            <a:endParaRPr lang="en-IN" dirty="0"/>
          </a:p>
        </p:txBody>
      </p:sp>
      <p:pic>
        <p:nvPicPr>
          <p:cNvPr id="1032" name="Picture 8" descr="Langflow">
            <a:extLst>
              <a:ext uri="{FF2B5EF4-FFF2-40B4-BE49-F238E27FC236}">
                <a16:creationId xmlns:a16="http://schemas.microsoft.com/office/drawing/2014/main" id="{24A5981A-2970-0CAA-39DE-6E82CA7EC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1" y="3920554"/>
            <a:ext cx="1921933" cy="195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9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E2F5BF-5444-D856-7A1C-B240B500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9BBD4-1006-9993-5453-F2B6BC445D4F}"/>
              </a:ext>
            </a:extLst>
          </p:cNvPr>
          <p:cNvSpPr txBox="1"/>
          <p:nvPr/>
        </p:nvSpPr>
        <p:spPr>
          <a:xfrm>
            <a:off x="260954" y="262532"/>
            <a:ext cx="65928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Environmental &amp; Crop Data Analysis Agent</a:t>
            </a:r>
            <a:endParaRPr lang="en-US" sz="24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A90990-ED83-8627-4B11-84A0E594C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992" y="1079528"/>
            <a:ext cx="2138867" cy="48288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9A3F31-C06A-D6F7-F583-6F4373826E37}"/>
              </a:ext>
            </a:extLst>
          </p:cNvPr>
          <p:cNvSpPr txBox="1"/>
          <p:nvPr/>
        </p:nvSpPr>
        <p:spPr>
          <a:xfrm>
            <a:off x="357886" y="986392"/>
            <a:ext cx="376164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input</a:t>
            </a:r>
          </a:p>
          <a:p>
            <a:r>
              <a:rPr lang="en-US" dirty="0"/>
              <a:t>A </a:t>
            </a:r>
            <a:r>
              <a:rPr lang="en-US" b="1" dirty="0"/>
              <a:t>structured environmental &amp; crop context</a:t>
            </a:r>
            <a:r>
              <a:rPr lang="en-US" dirty="0"/>
              <a:t>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Crop type (e.g., tomato, rice)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&amp; climate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 (monsoon, winter, summer)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Environmental factors: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Temperature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Humidity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Rainfall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Known pests/diseases common in these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 output</a:t>
            </a:r>
            <a:endParaRPr lang="en-US" dirty="0"/>
          </a:p>
          <a:p>
            <a:r>
              <a:rPr lang="en-US" dirty="0"/>
              <a:t>“The crop is tomato grown in a warm, humid region during monsoon season. Such conditions favor fungal diseases like leaf blight and pests like whiteflies.”</a:t>
            </a:r>
          </a:p>
          <a:p>
            <a:endParaRPr lang="en-US" dirty="0"/>
          </a:p>
          <a:p>
            <a:r>
              <a:rPr lang="en-US" dirty="0"/>
              <a:t>This output is </a:t>
            </a:r>
            <a:r>
              <a:rPr lang="en-US" b="1" dirty="0"/>
              <a:t>NOT shown to the user</a:t>
            </a:r>
            <a:r>
              <a:rPr lang="en-US" dirty="0"/>
              <a:t> directly</a:t>
            </a:r>
            <a:br>
              <a:rPr lang="en-US" dirty="0"/>
            </a:br>
            <a:r>
              <a:rPr lang="en-US" dirty="0"/>
              <a:t>It is passed to the </a:t>
            </a:r>
            <a:r>
              <a:rPr lang="en-US" b="1" dirty="0"/>
              <a:t>next agent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370D66-5CB1-4D82-9984-D08DF8BCC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37" y="1725320"/>
            <a:ext cx="4010772" cy="4828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84AF81-4404-65B0-6C29-DF6B26F042B2}"/>
              </a:ext>
            </a:extLst>
          </p:cNvPr>
          <p:cNvSpPr txBox="1"/>
          <p:nvPr/>
        </p:nvSpPr>
        <p:spPr>
          <a:xfrm>
            <a:off x="6918237" y="1291195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4" name="Picture 8" descr="Langflow">
            <a:extLst>
              <a:ext uri="{FF2B5EF4-FFF2-40B4-BE49-F238E27FC236}">
                <a16:creationId xmlns:a16="http://schemas.microsoft.com/office/drawing/2014/main" id="{D404AE20-FED3-CA29-558D-BEC089B2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878" y="52288"/>
            <a:ext cx="1372610" cy="139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44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0B2ADA4-CE17-F8FC-B444-10CEE7B1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36C958-F148-3160-41B4-B26366896384}"/>
              </a:ext>
            </a:extLst>
          </p:cNvPr>
          <p:cNvSpPr txBox="1"/>
          <p:nvPr/>
        </p:nvSpPr>
        <p:spPr>
          <a:xfrm>
            <a:off x="260954" y="262532"/>
            <a:ext cx="65928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Pest &amp; Disease Risk Detection Agent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A3F68-1E95-72D7-C4FF-E796515E52FA}"/>
              </a:ext>
            </a:extLst>
          </p:cNvPr>
          <p:cNvSpPr txBox="1"/>
          <p:nvPr/>
        </p:nvSpPr>
        <p:spPr>
          <a:xfrm>
            <a:off x="604643" y="1597482"/>
            <a:ext cx="376164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risk assessment</a:t>
            </a:r>
            <a:r>
              <a:rPr lang="en-US" dirty="0"/>
              <a:t>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pest(s)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disease(s)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level: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Low / Medium /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reasoning for each risk</a:t>
            </a:r>
          </a:p>
          <a:p>
            <a:endParaRPr lang="en-US" dirty="0"/>
          </a:p>
          <a:p>
            <a:r>
              <a:rPr lang="en-US" b="1" dirty="0"/>
              <a:t>Example output</a:t>
            </a:r>
            <a:endParaRPr lang="en-US" dirty="0"/>
          </a:p>
          <a:p>
            <a:r>
              <a:rPr lang="en-US" dirty="0"/>
              <a:t>“Based on high humidity and leaf discoloration, there is a </a:t>
            </a:r>
            <a:r>
              <a:rPr lang="en-US" b="1" dirty="0"/>
              <a:t>high risk</a:t>
            </a:r>
            <a:r>
              <a:rPr lang="en-US" dirty="0"/>
              <a:t> of early blight and a </a:t>
            </a:r>
            <a:r>
              <a:rPr lang="en-US" b="1" dirty="0"/>
              <a:t>moderate risk</a:t>
            </a:r>
            <a:r>
              <a:rPr lang="en-US" dirty="0"/>
              <a:t> of aphid infestation.”</a:t>
            </a:r>
          </a:p>
          <a:p>
            <a:endParaRPr lang="en-US" dirty="0"/>
          </a:p>
          <a:p>
            <a:r>
              <a:rPr lang="en-US" dirty="0"/>
              <a:t>This output feeds into the </a:t>
            </a:r>
            <a:r>
              <a:rPr lang="en-US" b="1" dirty="0"/>
              <a:t>final advisory agent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B7004-F0E0-BC24-810B-86E64C76ED9B}"/>
              </a:ext>
            </a:extLst>
          </p:cNvPr>
          <p:cNvSpPr txBox="1"/>
          <p:nvPr/>
        </p:nvSpPr>
        <p:spPr>
          <a:xfrm>
            <a:off x="7400838" y="1443594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17F35-685A-D439-6574-DEAC2853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945" y="1070126"/>
            <a:ext cx="2351861" cy="5272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2F3696-7F81-FDAF-DAB6-0AEAEDC50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838" y="1850584"/>
            <a:ext cx="3761641" cy="4491923"/>
          </a:xfrm>
          <a:prstGeom prst="rect">
            <a:avLst/>
          </a:prstGeom>
        </p:spPr>
      </p:pic>
      <p:pic>
        <p:nvPicPr>
          <p:cNvPr id="5" name="Picture 8" descr="Langflow">
            <a:extLst>
              <a:ext uri="{FF2B5EF4-FFF2-40B4-BE49-F238E27FC236}">
                <a16:creationId xmlns:a16="http://schemas.microsoft.com/office/drawing/2014/main" id="{4FA9E253-3926-A218-98D2-E74FCD529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878" y="50799"/>
            <a:ext cx="1372610" cy="139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41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D61332F-700A-1B0D-ECF7-B1C0B0DA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B8B83-CD6F-CB5D-797B-2D9B03F9A878}"/>
              </a:ext>
            </a:extLst>
          </p:cNvPr>
          <p:cNvSpPr txBox="1"/>
          <p:nvPr/>
        </p:nvSpPr>
        <p:spPr>
          <a:xfrm>
            <a:off x="260954" y="262532"/>
            <a:ext cx="65928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Risk Alert &amp; Preventive Advisory Assistant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2B13F5-A9DC-6162-1384-FAE088C1CF3A}"/>
              </a:ext>
            </a:extLst>
          </p:cNvPr>
          <p:cNvSpPr txBox="1"/>
          <p:nvPr/>
        </p:nvSpPr>
        <p:spPr>
          <a:xfrm>
            <a:off x="562387" y="1387305"/>
            <a:ext cx="376164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appears in </a:t>
            </a:r>
            <a:r>
              <a:rPr lang="en-US" b="1" dirty="0"/>
              <a:t>Chat Output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Risk alert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Identified pest/disease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Preventive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Treatment suggestions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Example output</a:t>
            </a:r>
            <a:endParaRPr lang="en-IN" dirty="0"/>
          </a:p>
          <a:p>
            <a:r>
              <a:rPr lang="en-IN" b="1" dirty="0"/>
              <a:t>High Risk Alert: Early Blight</a:t>
            </a:r>
            <a:endParaRPr lang="en-IN" dirty="0"/>
          </a:p>
          <a:p>
            <a:r>
              <a:rPr lang="en-IN" b="1" dirty="0"/>
              <a:t>Preventive Measures:</a:t>
            </a:r>
            <a:br>
              <a:rPr lang="en-IN" dirty="0"/>
            </a:br>
            <a:r>
              <a:rPr lang="en-IN" dirty="0"/>
              <a:t>• Ensure proper drainage</a:t>
            </a:r>
            <a:br>
              <a:rPr lang="en-IN" dirty="0"/>
            </a:br>
            <a:r>
              <a:rPr lang="en-IN" dirty="0"/>
              <a:t>• Avoid overhead irrigation</a:t>
            </a:r>
            <a:br>
              <a:rPr lang="en-IN" dirty="0"/>
            </a:br>
            <a:r>
              <a:rPr lang="en-IN" dirty="0"/>
              <a:t>• Use recommended fungicides</a:t>
            </a:r>
          </a:p>
          <a:p>
            <a:endParaRPr lang="en-IN" dirty="0"/>
          </a:p>
          <a:p>
            <a:r>
              <a:rPr lang="en-IN" b="1" dirty="0"/>
              <a:t>Monitoring Tip:</a:t>
            </a:r>
            <a:br>
              <a:rPr lang="en-IN" dirty="0"/>
            </a:br>
            <a:r>
              <a:rPr lang="en-IN" dirty="0"/>
              <a:t>Inspect leaves every 3 days during humid weather</a:t>
            </a:r>
          </a:p>
          <a:p>
            <a:r>
              <a:rPr lang="en-IN" dirty="0"/>
              <a:t>.</a:t>
            </a:r>
          </a:p>
          <a:p>
            <a:r>
              <a:rPr lang="en-IN" b="1" dirty="0"/>
              <a:t>This is the only output the user sees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06D25-09B2-90F8-82AF-44D9D38BADFE}"/>
              </a:ext>
            </a:extLst>
          </p:cNvPr>
          <p:cNvSpPr txBox="1"/>
          <p:nvPr/>
        </p:nvSpPr>
        <p:spPr>
          <a:xfrm>
            <a:off x="7400837" y="1387305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70251-C79D-6F82-20D1-1DFF5E53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837" y="1875536"/>
            <a:ext cx="3761641" cy="4491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0FCA62-B74C-0DAE-4FA8-266D90116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167" y="1184649"/>
            <a:ext cx="2054557" cy="4827210"/>
          </a:xfrm>
          <a:prstGeom prst="rect">
            <a:avLst/>
          </a:prstGeom>
        </p:spPr>
      </p:pic>
      <p:pic>
        <p:nvPicPr>
          <p:cNvPr id="4" name="Picture 8" descr="Langflow">
            <a:extLst>
              <a:ext uri="{FF2B5EF4-FFF2-40B4-BE49-F238E27FC236}">
                <a16:creationId xmlns:a16="http://schemas.microsoft.com/office/drawing/2014/main" id="{D20C7AB5-2504-8396-1709-4D5D30D89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078" y="27799"/>
            <a:ext cx="1372610" cy="139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63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2152869" y="454315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Users</a:t>
            </a:r>
          </a:p>
        </p:txBody>
      </p:sp>
      <p:pic>
        <p:nvPicPr>
          <p:cNvPr id="2" name="Picture 12" descr="IBM launches Granite 4.0 to cut AI infra costs with hybrid  Mamba-transformer models | InfoWorld">
            <a:extLst>
              <a:ext uri="{FF2B5EF4-FFF2-40B4-BE49-F238E27FC236}">
                <a16:creationId xmlns:a16="http://schemas.microsoft.com/office/drawing/2014/main" id="{4D69DF37-9416-5414-0052-860359421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9219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7E78FF84-9BFC-5849-B73D-9E1B51DC64D4}"/>
              </a:ext>
            </a:extLst>
          </p:cNvPr>
          <p:cNvSpPr/>
          <p:nvPr/>
        </p:nvSpPr>
        <p:spPr>
          <a:xfrm>
            <a:off x="3386045" y="784896"/>
            <a:ext cx="1921933" cy="1753411"/>
          </a:xfrm>
          <a:custGeom>
            <a:avLst/>
            <a:gdLst/>
            <a:ahLst/>
            <a:cxnLst/>
            <a:rect l="l" t="t" r="r" b="b"/>
            <a:pathLst>
              <a:path w="10082205" h="8229600">
                <a:moveTo>
                  <a:pt x="0" y="0"/>
                </a:moveTo>
                <a:lnTo>
                  <a:pt x="10082206" y="0"/>
                </a:lnTo>
                <a:lnTo>
                  <a:pt x="100822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03E96870-02E2-B9BA-0E25-A8F9CA3B34A0}"/>
              </a:ext>
            </a:extLst>
          </p:cNvPr>
          <p:cNvSpPr/>
          <p:nvPr/>
        </p:nvSpPr>
        <p:spPr>
          <a:xfrm>
            <a:off x="10270157" y="1225859"/>
            <a:ext cx="1376412" cy="1357161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136DC45-51C6-1881-E4FC-A06D4216EA10}"/>
              </a:ext>
            </a:extLst>
          </p:cNvPr>
          <p:cNvSpPr/>
          <p:nvPr/>
        </p:nvSpPr>
        <p:spPr>
          <a:xfrm>
            <a:off x="3774882" y="4212930"/>
            <a:ext cx="1495285" cy="1144127"/>
          </a:xfrm>
          <a:custGeom>
            <a:avLst/>
            <a:gdLst/>
            <a:ahLst/>
            <a:cxnLst/>
            <a:rect l="l" t="t" r="r" b="b"/>
            <a:pathLst>
              <a:path w="6015272" h="5911973">
                <a:moveTo>
                  <a:pt x="0" y="0"/>
                </a:moveTo>
                <a:lnTo>
                  <a:pt x="6015272" y="0"/>
                </a:lnTo>
                <a:lnTo>
                  <a:pt x="6015272" y="5911973"/>
                </a:lnTo>
                <a:lnTo>
                  <a:pt x="0" y="591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7526"/>
            </a:stretch>
          </a:blipFill>
        </p:spPr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A87D1FCE-095D-D021-8048-62C2CBBD1B01}"/>
              </a:ext>
            </a:extLst>
          </p:cNvPr>
          <p:cNvSpPr/>
          <p:nvPr/>
        </p:nvSpPr>
        <p:spPr>
          <a:xfrm>
            <a:off x="8618404" y="3975179"/>
            <a:ext cx="2512543" cy="1357162"/>
          </a:xfrm>
          <a:custGeom>
            <a:avLst/>
            <a:gdLst/>
            <a:ahLst/>
            <a:cxnLst/>
            <a:rect l="l" t="t" r="r" b="b"/>
            <a:pathLst>
              <a:path w="12263030" h="6989927">
                <a:moveTo>
                  <a:pt x="0" y="0"/>
                </a:moveTo>
                <a:lnTo>
                  <a:pt x="12263031" y="0"/>
                </a:lnTo>
                <a:lnTo>
                  <a:pt x="12263031" y="6989927"/>
                </a:lnTo>
                <a:lnTo>
                  <a:pt x="0" y="69899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78B147-C861-FE23-6E83-BB25EAC4C790}"/>
              </a:ext>
            </a:extLst>
          </p:cNvPr>
          <p:cNvSpPr txBox="1"/>
          <p:nvPr/>
        </p:nvSpPr>
        <p:spPr>
          <a:xfrm>
            <a:off x="2556314" y="2928738"/>
            <a:ext cx="42230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Benefit: </a:t>
            </a:r>
            <a:r>
              <a:rPr lang="en-US" dirty="0"/>
              <a:t>Get timely, low-cost mobile alerts to prevent crop loss and avoid unnecessary chemical spraying.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4A156-46E4-4C6A-9ABE-9A81E81691E6}"/>
              </a:ext>
            </a:extLst>
          </p:cNvPr>
          <p:cNvSpPr txBox="1"/>
          <p:nvPr/>
        </p:nvSpPr>
        <p:spPr>
          <a:xfrm>
            <a:off x="3247607" y="2583020"/>
            <a:ext cx="2567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Small &amp; Marginal Farmers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30BE46-F645-77C5-0840-AFDBEAC7BC42}"/>
              </a:ext>
            </a:extLst>
          </p:cNvPr>
          <p:cNvSpPr txBox="1"/>
          <p:nvPr/>
        </p:nvSpPr>
        <p:spPr>
          <a:xfrm>
            <a:off x="7731499" y="2928738"/>
            <a:ext cx="42230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Helps agronomists and crop consultants quickly assess regional risks and give data-backed recommendations during field visits.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846351-B494-7FF0-ED67-1A03F85C520E}"/>
              </a:ext>
            </a:extLst>
          </p:cNvPr>
          <p:cNvSpPr txBox="1"/>
          <p:nvPr/>
        </p:nvSpPr>
        <p:spPr>
          <a:xfrm>
            <a:off x="7731499" y="2620961"/>
            <a:ext cx="4223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b="1" dirty="0"/>
              <a:t>Agricultural Extension Officers (KVKs &amp; NGOs)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EDF5E-4B9A-4580-68FB-3B31A30C19B3}"/>
              </a:ext>
            </a:extLst>
          </p:cNvPr>
          <p:cNvSpPr txBox="1"/>
          <p:nvPr/>
        </p:nvSpPr>
        <p:spPr>
          <a:xfrm>
            <a:off x="2596241" y="5725654"/>
            <a:ext cx="42230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Acts as a second-opinion tool that validates field observations using historical weather data and IPM guidelines.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AA10B-E8D0-CB86-EFFD-ABB6DC77BF43}"/>
              </a:ext>
            </a:extLst>
          </p:cNvPr>
          <p:cNvSpPr txBox="1"/>
          <p:nvPr/>
        </p:nvSpPr>
        <p:spPr>
          <a:xfrm>
            <a:off x="3115563" y="5414993"/>
            <a:ext cx="3860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Agronomists &amp; Crop Consultants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D8E5E0-2EB2-8D44-603D-DE38E8E73C4A}"/>
              </a:ext>
            </a:extLst>
          </p:cNvPr>
          <p:cNvSpPr txBox="1"/>
          <p:nvPr/>
        </p:nvSpPr>
        <p:spPr>
          <a:xfrm>
            <a:off x="7772762" y="5722771"/>
            <a:ext cx="42230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Enables forecasting of potential yield losses from disease outbreaks and better planning of preventive input inventory.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AF75E7-2AD5-4D3A-1BF8-92D257E0A8CE}"/>
              </a:ext>
            </a:extLst>
          </p:cNvPr>
          <p:cNvSpPr txBox="1"/>
          <p:nvPr/>
        </p:nvSpPr>
        <p:spPr>
          <a:xfrm>
            <a:off x="7493629" y="5414994"/>
            <a:ext cx="4223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b="1" dirty="0"/>
              <a:t>Farmer Producer Organizations (FPOs)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B76C747-3F5A-6656-D22A-474B6FB3E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325" y="1223756"/>
            <a:ext cx="2315591" cy="129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F32CFC5-C5E2-DCAE-748F-C4487030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6754F-75EC-8133-955D-8E738BF4F80B}"/>
              </a:ext>
            </a:extLst>
          </p:cNvPr>
          <p:cNvSpPr txBox="1"/>
          <p:nvPr/>
        </p:nvSpPr>
        <p:spPr>
          <a:xfrm>
            <a:off x="269662" y="540993"/>
            <a:ext cx="97887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Impact of this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System for Pest and Disease Risk Assessment</a:t>
            </a:r>
            <a:r>
              <a:rPr lang="en-US" sz="2400" b="1" kern="1200" dirty="0">
                <a:solidFill>
                  <a:prstClr val="black"/>
                </a:solidFill>
                <a:latin typeface="Franklin Gothic Book" panose="020B0502020104020203"/>
              </a:rPr>
              <a:t> </a:t>
            </a:r>
            <a:endParaRPr lang="en-US" sz="2400" b="1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4DB58A0-FA9B-1F40-B321-A07B7CED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95" y="1248475"/>
            <a:ext cx="1108169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Risk Detection: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environmental and crop stress conditions early, enabling proactive farming instead of reactive treatment.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Pest &amp; Disease Awareness: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favorable conditions for pest and disease outbreaks using historical patterns and agronomic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Farming Support: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non-chemical, preventive advisories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dependency on pesticides and promoting eco-friendly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Decision-Making: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collaboration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IBM Granite) ensures reliable, explainable, and context-aware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&amp; Resource Optimization: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crop loss, unnecessary inputs, and labor efforts through timely preventive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&amp; Future-Ready: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agent architecture allows easy expansion across crops, regions, and additional smart-farming services.</a:t>
            </a:r>
          </a:p>
        </p:txBody>
      </p:sp>
    </p:spTree>
    <p:extLst>
      <p:ext uri="{BB962C8B-B14F-4D97-AF65-F5344CB8AC3E}">
        <p14:creationId xmlns:p14="http://schemas.microsoft.com/office/powerpoint/2010/main" val="209862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2785537" y="691973"/>
            <a:ext cx="440488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/>
              <a:t>Model Core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7097-FE1F-3502-9F85-2E152E3AC4BA}"/>
              </a:ext>
            </a:extLst>
          </p:cNvPr>
          <p:cNvSpPr txBox="1"/>
          <p:nvPr/>
        </p:nvSpPr>
        <p:spPr>
          <a:xfrm>
            <a:off x="2785537" y="1939853"/>
            <a:ext cx="40789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IBM Granite</a:t>
            </a:r>
          </a:p>
          <a:p>
            <a:r>
              <a:rPr lang="en-IN" sz="6000" b="1" dirty="0"/>
              <a:t>-3-2-8B-Instruct</a:t>
            </a:r>
            <a:endParaRPr lang="en-IN" sz="7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F5112-01F8-6C5B-C00C-49AA086A4425}"/>
              </a:ext>
            </a:extLst>
          </p:cNvPr>
          <p:cNvSpPr txBox="1"/>
          <p:nvPr/>
        </p:nvSpPr>
        <p:spPr>
          <a:xfrm>
            <a:off x="6617782" y="2118765"/>
            <a:ext cx="54953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Question-answering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 Augmented Generation (RAG)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related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Function-calling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dialog use cases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Long-context tasks including long document/meeting summarization, long document QA, etc.</a:t>
            </a:r>
          </a:p>
        </p:txBody>
      </p:sp>
      <p:pic>
        <p:nvPicPr>
          <p:cNvPr id="2060" name="Picture 12" descr="IBM launches Granite 4.0 to cut AI infra costs with hybrid  Mamba-transformer models | InfoWorld">
            <a:extLst>
              <a:ext uri="{FF2B5EF4-FFF2-40B4-BE49-F238E27FC236}">
                <a16:creationId xmlns:a16="http://schemas.microsoft.com/office/drawing/2014/main" id="{84E32AA9-41C4-B96C-75C7-F0E1998D1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166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BM's New Granite 3.0 Generative AI Models Are Small, Yet Highly Accurate  and Efficient | NVIDIA Technical Blog">
            <a:extLst>
              <a:ext uri="{FF2B5EF4-FFF2-40B4-BE49-F238E27FC236}">
                <a16:creationId xmlns:a16="http://schemas.microsoft.com/office/drawing/2014/main" id="{F70E193B-35DB-4AFC-D449-8298FE707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7" y="0"/>
            <a:ext cx="3471333" cy="195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0" y="524940"/>
            <a:ext cx="74636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Statistics for the use of IBM Granite-3-2-8b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4C534-FDF2-7D9B-0F1B-1971FA8CF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23" y="1480681"/>
            <a:ext cx="11367083" cy="441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F7BE4FE8-A1CF-E4FA-4492-20559F22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F8F85816-D832-F5C7-CFBA-8425A4D99B47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918A0-0747-8180-66E3-2597EEEFF595}"/>
              </a:ext>
            </a:extLst>
          </p:cNvPr>
          <p:cNvSpPr txBox="1"/>
          <p:nvPr/>
        </p:nvSpPr>
        <p:spPr>
          <a:xfrm>
            <a:off x="1034440" y="524940"/>
            <a:ext cx="74636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Statistics for the use of IBM Granite-3-2-8b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FC91F-5D2C-759A-23B1-37563F0F8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6235"/>
            <a:ext cx="12192000" cy="473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5336BDD-F6EE-72C7-DA1C-78D6A81C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01AFB401-D7B4-1FC8-255F-8BE20CF31B97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0A57D-A017-5448-F228-64830633806D}"/>
              </a:ext>
            </a:extLst>
          </p:cNvPr>
          <p:cNvSpPr txBox="1"/>
          <p:nvPr/>
        </p:nvSpPr>
        <p:spPr>
          <a:xfrm>
            <a:off x="1034440" y="524940"/>
            <a:ext cx="74636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Statistics for the use of IBM Granite-3-2-8b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D7F28-4331-C4D6-61BA-10647D80C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1108"/>
            <a:ext cx="12192000" cy="459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7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895322" y="18845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Technical Flow Diagram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D3922E-3475-A55F-ADD6-E4651543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391" y="817271"/>
            <a:ext cx="9358043" cy="5741787"/>
          </a:xfrm>
          <a:prstGeom prst="rect">
            <a:avLst/>
          </a:prstGeom>
        </p:spPr>
      </p:pic>
      <p:pic>
        <p:nvPicPr>
          <p:cNvPr id="9218" name="Picture 2" descr="Langflow Brand Identity &amp; Rebrand by Matthew Goshman on Dribbble">
            <a:extLst>
              <a:ext uri="{FF2B5EF4-FFF2-40B4-BE49-F238E27FC236}">
                <a16:creationId xmlns:a16="http://schemas.microsoft.com/office/drawing/2014/main" id="{6DD5C964-226D-61E0-75DB-7344F6969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10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7EA23EE7-D0F3-8B7F-F9B5-BA07F765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C5AEADBF-5630-7BF2-B7EF-4E6684F63A8F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0EA75-83FF-046B-57D5-4429E9694E31}"/>
              </a:ext>
            </a:extLst>
          </p:cNvPr>
          <p:cNvSpPr txBox="1"/>
          <p:nvPr/>
        </p:nvSpPr>
        <p:spPr>
          <a:xfrm>
            <a:off x="2314486" y="420791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 Integration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D4EEA-DA18-1A28-520D-1CC32B20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920" y="1020070"/>
            <a:ext cx="9576644" cy="5536020"/>
          </a:xfrm>
          <a:prstGeom prst="rect">
            <a:avLst/>
          </a:prstGeom>
        </p:spPr>
      </p:pic>
      <p:pic>
        <p:nvPicPr>
          <p:cNvPr id="3074" name="Picture 2" descr="Langflow Brand Identity &amp; Rebrand by Matthew Goshman on Dribbble">
            <a:extLst>
              <a:ext uri="{FF2B5EF4-FFF2-40B4-BE49-F238E27FC236}">
                <a16:creationId xmlns:a16="http://schemas.microsoft.com/office/drawing/2014/main" id="{0C5C1787-A4D6-B593-FBD8-ED93CD841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8034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205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B104FF5-4ADE-9BA5-727D-2865E8CF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F658AB5B-CC15-8BB1-F697-553D12C81D76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47A14-435C-6797-06EA-F8C639349A52}"/>
              </a:ext>
            </a:extLst>
          </p:cNvPr>
          <p:cNvSpPr txBox="1"/>
          <p:nvPr/>
        </p:nvSpPr>
        <p:spPr>
          <a:xfrm>
            <a:off x="881827" y="584632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- 1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C8356-2FD0-B95E-E443-16C13CA25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27" y="1369512"/>
            <a:ext cx="10428346" cy="2809875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3FD0E513-C149-8782-4C0F-CDB0E4AD4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657" y="5207000"/>
            <a:ext cx="1563623" cy="158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71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F1C83D6-5373-4DE9-BAD7-7F6286BF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86A1EFB0-1D30-AD27-B613-69F5E63B53AC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6FF16-4493-D595-165E-9B2A1A90563C}"/>
              </a:ext>
            </a:extLst>
          </p:cNvPr>
          <p:cNvSpPr txBox="1"/>
          <p:nvPr/>
        </p:nvSpPr>
        <p:spPr>
          <a:xfrm>
            <a:off x="734613" y="466098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- 1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005F1-E63E-59EF-2C33-4482E3AC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68" y="1113823"/>
            <a:ext cx="8609464" cy="5062552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24E04B43-76F9-EA01-60AD-7B05BB6D9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512" y="5345787"/>
            <a:ext cx="1368439" cy="138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645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5657825-5C6C-3549-FCA8-6B70CE6F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BF9A831D-B53F-0FF0-5F9A-8FABCB7AE670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8F0BE-1A0D-4D6B-7AC6-BC103EC6C181}"/>
              </a:ext>
            </a:extLst>
          </p:cNvPr>
          <p:cNvSpPr txBox="1"/>
          <p:nvPr/>
        </p:nvSpPr>
        <p:spPr>
          <a:xfrm>
            <a:off x="742302" y="655682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- 2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888C3-ADB3-E153-51DF-54BC893B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98" y="1499950"/>
            <a:ext cx="9744075" cy="3067050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801A1FB7-BCE5-CE4F-06C8-C4A695AAE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379" y="5358050"/>
            <a:ext cx="1368439" cy="138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52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70C66B9-1094-6FD4-7B4A-D3DBAC03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EF60265F-3BDF-203E-4AC2-7409C42DD7BF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285BF-40EB-3FB0-82EF-694C384A253B}"/>
              </a:ext>
            </a:extLst>
          </p:cNvPr>
          <p:cNvSpPr txBox="1"/>
          <p:nvPr/>
        </p:nvSpPr>
        <p:spPr>
          <a:xfrm>
            <a:off x="823153" y="466098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- 2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52CE8-17FC-3D97-F633-28E5DE525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53" y="1185627"/>
            <a:ext cx="8699959" cy="5206275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877B5E58-D80A-BB48-3616-4AAA49EE7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512" y="5345787"/>
            <a:ext cx="1368439" cy="138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568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EE76EA7-1056-B253-EEB4-BA887937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A584CF75-A5AF-9649-DB3D-5EC5FBA7EECC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32EC3-CED5-8488-A530-C2844F03311A}"/>
              </a:ext>
            </a:extLst>
          </p:cNvPr>
          <p:cNvSpPr txBox="1"/>
          <p:nvPr/>
        </p:nvSpPr>
        <p:spPr>
          <a:xfrm>
            <a:off x="1044306" y="823462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- 3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7CACE-35DB-F35D-0E82-A48058755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48" y="2035627"/>
            <a:ext cx="8077200" cy="2466975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A60E465A-2C71-A99E-1586-DCBF846AC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512" y="5345787"/>
            <a:ext cx="1368439" cy="138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056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6A28B03-FBC1-9B39-A79E-9CC95C5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743B2DB3-457D-7A37-B994-D958C6AA6D67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36C49-7A70-8CE6-9AC7-4C4E5F4D1466}"/>
              </a:ext>
            </a:extLst>
          </p:cNvPr>
          <p:cNvSpPr txBox="1"/>
          <p:nvPr/>
        </p:nvSpPr>
        <p:spPr>
          <a:xfrm>
            <a:off x="510906" y="59483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- 3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85B0B-27F3-CE5E-97B8-39EB8AED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4" y="1239031"/>
            <a:ext cx="9509559" cy="4272490"/>
          </a:xfrm>
          <a:prstGeom prst="rect">
            <a:avLst/>
          </a:prstGeom>
        </p:spPr>
      </p:pic>
      <p:pic>
        <p:nvPicPr>
          <p:cNvPr id="2" name="Picture 8" descr="Langflow">
            <a:extLst>
              <a:ext uri="{FF2B5EF4-FFF2-40B4-BE49-F238E27FC236}">
                <a16:creationId xmlns:a16="http://schemas.microsoft.com/office/drawing/2014/main" id="{F32AD39D-2AB4-1FB7-0F0F-F0C86C81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512" y="5345787"/>
            <a:ext cx="1368439" cy="138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6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2319391" y="35299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2395591" y="1214300"/>
            <a:ext cx="9214580" cy="70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u="sng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https://github.com/Shivaram-025/NexusCloud-Pest-Risk-Agent.git</a:t>
            </a:r>
            <a:endParaRPr lang="en-US" sz="1850" u="sng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42" name="Picture 2" descr="GitHub | San Francisco CA">
            <a:extLst>
              <a:ext uri="{FF2B5EF4-FFF2-40B4-BE49-F238E27FC236}">
                <a16:creationId xmlns:a16="http://schemas.microsoft.com/office/drawing/2014/main" id="{7445FC59-0636-305D-EB1B-C9D640672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435" y="4825999"/>
            <a:ext cx="1901497" cy="194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Langflow Brand Identity &amp; Rebrand by Matthew Goshman on Dribbble">
            <a:extLst>
              <a:ext uri="{FF2B5EF4-FFF2-40B4-BE49-F238E27FC236}">
                <a16:creationId xmlns:a16="http://schemas.microsoft.com/office/drawing/2014/main" id="{32395217-9318-F2C4-8E41-621763D8C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8034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78;p18">
            <a:extLst>
              <a:ext uri="{FF2B5EF4-FFF2-40B4-BE49-F238E27FC236}">
                <a16:creationId xmlns:a16="http://schemas.microsoft.com/office/drawing/2014/main" id="{C4416C9A-463B-BE9E-760B-5EFA70685636}"/>
              </a:ext>
            </a:extLst>
          </p:cNvPr>
          <p:cNvSpPr/>
          <p:nvPr/>
        </p:nvSpPr>
        <p:spPr>
          <a:xfrm>
            <a:off x="2395591" y="191831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 in GitHub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279;p18">
            <a:extLst>
              <a:ext uri="{FF2B5EF4-FFF2-40B4-BE49-F238E27FC236}">
                <a16:creationId xmlns:a16="http://schemas.microsoft.com/office/drawing/2014/main" id="{68FD5810-58F3-992A-DD4D-45531CF4489D}"/>
              </a:ext>
            </a:extLst>
          </p:cNvPr>
          <p:cNvSpPr/>
          <p:nvPr/>
        </p:nvSpPr>
        <p:spPr>
          <a:xfrm>
            <a:off x="2395591" y="2848050"/>
            <a:ext cx="9214580" cy="392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contents uploaded into the GitHub Repository are: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env file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185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gitIgnore</a:t>
            </a: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JSON( Java Script Object Notation) File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README.md File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The main code file – app.py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2471786" y="63239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2535794" y="1499439"/>
            <a:ext cx="921458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hlinkClick r:id="rId3"/>
              </a:rPr>
              <a:t>IBM Granite: Building with Foundation Models</a:t>
            </a:r>
            <a:endParaRPr lang="en-US" sz="2000" dirty="0"/>
          </a:p>
        </p:txBody>
      </p:sp>
      <p:sp>
        <p:nvSpPr>
          <p:cNvPr id="280" name="Google Shape;280;p18">
            <a:hlinkClick r:id="rId4"/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2535794" y="2011178"/>
            <a:ext cx="7468553" cy="48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u="sng" dirty="0" err="1">
                <a:solidFill>
                  <a:schemeClr val="accent1"/>
                </a:solidFill>
              </a:rPr>
              <a:t>LangFlow</a:t>
            </a:r>
            <a:r>
              <a:rPr lang="en-IN" sz="2000" u="sng" dirty="0">
                <a:solidFill>
                  <a:schemeClr val="accent1"/>
                </a:solidFill>
              </a:rPr>
              <a:t> Official Documentation</a:t>
            </a:r>
            <a:endParaRPr sz="1850" b="0" i="0" u="sng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2535794" y="2547673"/>
            <a:ext cx="7468553" cy="56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hlinkClick r:id="rId5"/>
              </a:rPr>
              <a:t>Building AI Agents with </a:t>
            </a:r>
            <a:r>
              <a:rPr lang="en-US" sz="2000" dirty="0" err="1">
                <a:hlinkClick r:id="rId5"/>
              </a:rPr>
              <a:t>LangFlow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2535794" y="3114298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hlinkClick r:id="rId6"/>
              </a:rPr>
              <a:t>IBM watsonx.ai Product Page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281;p18">
            <a:extLst>
              <a:ext uri="{FF2B5EF4-FFF2-40B4-BE49-F238E27FC236}">
                <a16:creationId xmlns:a16="http://schemas.microsoft.com/office/drawing/2014/main" id="{21FD3E89-05E2-1112-9F17-F8E6781279DA}"/>
              </a:ext>
            </a:extLst>
          </p:cNvPr>
          <p:cNvSpPr/>
          <p:nvPr/>
        </p:nvSpPr>
        <p:spPr>
          <a:xfrm>
            <a:off x="2535794" y="3587525"/>
            <a:ext cx="7468553" cy="55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hlinkClick r:id="rId7"/>
              </a:rPr>
              <a:t>Watson Machine Learning API Docs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13F5A-78F7-A432-4FC9-A7BC8D3AF418}"/>
              </a:ext>
            </a:extLst>
          </p:cNvPr>
          <p:cNvSpPr txBox="1"/>
          <p:nvPr/>
        </p:nvSpPr>
        <p:spPr>
          <a:xfrm>
            <a:off x="2471786" y="4163179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8"/>
              </a:rPr>
              <a:t>TNAU Integrated Pest Management Guidelines</a:t>
            </a:r>
            <a:endParaRPr lang="en-IN" sz="2000" dirty="0"/>
          </a:p>
        </p:txBody>
      </p:sp>
      <p:sp>
        <p:nvSpPr>
          <p:cNvPr id="11" name="TextBox 10">
            <a:hlinkClick r:id="rId9"/>
            <a:extLst>
              <a:ext uri="{FF2B5EF4-FFF2-40B4-BE49-F238E27FC236}">
                <a16:creationId xmlns:a16="http://schemas.microsoft.com/office/drawing/2014/main" id="{6FE20E0F-DE85-4F86-7CE2-93257E1FFA47}"/>
              </a:ext>
            </a:extLst>
          </p:cNvPr>
          <p:cNvSpPr txBox="1"/>
          <p:nvPr/>
        </p:nvSpPr>
        <p:spPr>
          <a:xfrm>
            <a:off x="2535794" y="5254059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solidFill>
                  <a:schemeClr val="accent1"/>
                </a:solidFill>
              </a:rPr>
              <a:t>FAO Integrated Pest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BF4EF-FE04-8199-AB65-A3F5813FF98E}"/>
              </a:ext>
            </a:extLst>
          </p:cNvPr>
          <p:cNvSpPr txBox="1"/>
          <p:nvPr/>
        </p:nvSpPr>
        <p:spPr>
          <a:xfrm>
            <a:off x="2471786" y="4708619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10"/>
              </a:rPr>
              <a:t>IPM Packages for Major Crops</a:t>
            </a:r>
            <a:endParaRPr lang="en-IN" sz="2000" dirty="0"/>
          </a:p>
        </p:txBody>
      </p:sp>
      <p:pic>
        <p:nvPicPr>
          <p:cNvPr id="2" name="Picture 2" descr="Langflow Brand Identity &amp; Rebrand by Matthew Goshman on Dribbble">
            <a:extLst>
              <a:ext uri="{FF2B5EF4-FFF2-40B4-BE49-F238E27FC236}">
                <a16:creationId xmlns:a16="http://schemas.microsoft.com/office/drawing/2014/main" id="{34DB6432-C41D-5AD9-06A3-962C52192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8034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978</Words>
  <Application>Microsoft Office PowerPoint</Application>
  <PresentationFormat>Widescreen</PresentationFormat>
  <Paragraphs>140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Office Theme</vt:lpstr>
      <vt:lpstr>DividendVTI</vt:lpstr>
      <vt:lpstr>PowerPoint Presentation</vt:lpstr>
      <vt:lpstr>Nexus cloud : amruta institute of engineering and          management sciences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Srujana Deshpande</cp:lastModifiedBy>
  <cp:revision>172</cp:revision>
  <dcterms:created xsi:type="dcterms:W3CDTF">2025-07-08T05:06:56Z</dcterms:created>
  <dcterms:modified xsi:type="dcterms:W3CDTF">2026-02-10T13:33:09Z</dcterms:modified>
</cp:coreProperties>
</file>